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Historical revenue and EBITDA ($mm)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($mm)</c:v>
                </c:pt>
              </c:strCache>
            </c:strRef>
          </c:tx>
          <c:spPr>
            <a:solidFill>
              <a:srgbClr val="2A78D6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10982</c:v>
                </c:pt>
                <c:pt idx="1">
                  <c:v>11369</c:v>
                </c:pt>
                <c:pt idx="2">
                  <c:v>11618</c:v>
                </c:pt>
                <c:pt idx="3">
                  <c:v>11717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($mm)</c:v>
                </c:pt>
              </c:strCache>
            </c:strRef>
          </c:tx>
          <c:spPr>
            <a:solidFill>
              <a:srgbClr val="EB6834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1974</c:v>
                </c:pt>
                <c:pt idx="1">
                  <c:v>1956</c:v>
                </c:pt>
                <c:pt idx="2">
                  <c:v>1969</c:v>
                </c:pt>
                <c:pt idx="3">
                  <c:v>2063</c:v>
                </c:pt>
              </c:numCache>
            </c:numRef>
          </c:val>
        </c:ser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Project Harvest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DCE6F1"/>
                </a:solidFill>
                <a:latin typeface="Arial"/>
              </a:rPr>
              <a:t>Preliminary valuation materials: Demo Target Co. (synthetic)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B7C4D6"/>
                </a:solidFill>
                <a:latin typeface="Arial"/>
              </a:rPr>
              <a:t>May 2026  |  Draft, illustrative and for discussion purposes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B6834"/>
                </a:solidFill>
                <a:latin typeface="Arial"/>
              </a:rPr>
              <a:t>Built on SYNTHETIC DEMO DATA: set DATA_MODE = 'live' for real market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Demo Target Co. (synthetic) (TGT.DEMO)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Demo Target Co. (synthetic) trades at $20.00 per share: market cap $17,069mm and EV $22,789mm, or 10.9x LTM EBITDA vs a peer median of 10.6x.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Preliminary reference range of $17.28–$22.08 per share (-14% to +10% vs current), the median of trading comps, transaction and DCF ranges.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DCF at a 7.1% WACC: $24.33 (perpetuity growth 2.5%) and $19.64 (exit multiple 10.6x); terminal value is 80% of EV.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A financial sponsor at 5.0x leverage could pay up to $13.13 per share (-34%) for a 20% IRR, which sets a floor for a competitive process.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0B0B0B"/>
                </a:solidFill>
                <a:latin typeface="Arial"/>
              </a:rPr>
              <a:t>■  1 of 5 strategic buyers screened could fund an all-cash deal at the mid-point premium within 4.0x pro forma leverage.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Consumer Defensive | Packaged Foods (synthetic)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420623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79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 market data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Share price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52-week range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$17.57 – $22.30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Market cap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17,069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Net debt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5,720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Enterprise value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22,789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LTM revenue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11,834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LTM EBITDA ($mm)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2,084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EV / LTM EBITDA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 / NTM EPS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15.9x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0" y="1463040"/>
          <a:ext cx="667512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892040"/>
            <a:ext cx="6675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Synthetic company generated for offline demonstration. Switch DATA_MODE to 'live' for real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Trading comparables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Peers valued on LTM and NTM multiples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46429"/>
                <a:gridCol w="1146429"/>
                <a:gridCol w="1146429"/>
                <a:gridCol w="1146429"/>
                <a:gridCol w="1146429"/>
                <a:gridCol w="1146429"/>
                <a:gridCol w="1146429"/>
                <a:gridCol w="114642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Mkt cap ($mm)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 ($mm)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 / Revenue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 / EBITDA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P/E LTM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P/E NTM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PEER-A.DEMO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30,922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41,239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2.7x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PEER-B.DEMO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14,910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19,933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PEER-C.DEMO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11,231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17,325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9.6x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12.3x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PEER-D.DEMO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13,281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PEER-E.DEMO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36,950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56,766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9.0x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PEER-F.DEMO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17,830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21,146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23.4x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22.4x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PEER-G.DEMO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10,235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16,543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Median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10.6x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15.5x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25th pct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9.8x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13.8x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13.4x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75th pct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TGT.DEMO (target)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17,069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22,789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1.9x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16.3x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15.9x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2.7x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Implied value per share (25th–75th percentile):  EV/LTM EBITDA $17.28 – $20.56   |   P/NTM EPS $16.84 – $21.38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Precedent transactions and premiums paid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Control value benchmarks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67665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950720"/>
                <a:gridCol w="1950720"/>
                <a:gridCol w="1950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Acquirer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 / LTM EBITDA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2025-03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Buyer One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Snack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13.8x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2024-11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Buyer Two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Sauce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12.1x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2024-06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Sponsor Three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Frozen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2023-09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Buyer Four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Cereal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2023-02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Buyer Five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Spice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2022-07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Sponsor Six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Bakery Co (demo)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11.3x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645920"/>
            <a:ext cx="4114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Median EV / LTM EBITDA: 12.9x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Interquartile range: 11.5x – 14.4x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Implied value per share: $21.37 – $28.45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5661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Arial"/>
              </a:rPr>
              <a:t>Premiums paid analysis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589520" y="4023360"/>
          <a:ext cx="41147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Premium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Price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Unaffected (current)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20% premium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30% premium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$26.00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40% premium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$28.00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Weighted average cost of capital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WACC of 7.10%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5303519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7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Risk-free rate (10y UST)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Equity risk premium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Raw beta: 2y weekly / 5y monthly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0.68 / 0.71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 median unlevered beta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Target D/E (market)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36.3%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Relevered beta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Cost of equity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Synthetic rating (coverage)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A (5.3x)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Pre-tax cost of debt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Tax rate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Equity / total capital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73.4%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7.10%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554480"/>
          <a:ext cx="539496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91440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Peer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Raw beta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Adj. beta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D/E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Unlevered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PEER-A.DEMO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35.9%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PEER-B.DEMO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36.2%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PEER-C.DEMO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PEER-D.DEMO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PEER-E.DEMO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56.5%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PEER-F.DEMO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20.1%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PEER-G.DEMO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1.03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1.02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0.68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Median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0.69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4745736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Betas are Blume-adjusted (0.67 × raw + 0.33) and unlevered with Hamada: βu = βl / (1 + (1 − t) × D/E).</a:t>
            </a:r>
          </a:p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Cost of debt uses Damodaran's interest-coverage synthetic rating 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Discounted cash flow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Unlevered free cash flow projections ($mm)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7498074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4879"/>
                <a:gridCol w="944879"/>
                <a:gridCol w="944879"/>
                <a:gridCol w="944879"/>
                <a:gridCol w="944879"/>
                <a:gridCol w="9448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$mm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FY2025A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FY2026E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FY2027E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FY2028E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FY2029E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FY2030E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11,717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11,972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12,243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12,530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12,833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13,154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Revenue growth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0">
                          <a:solidFill>
                            <a:srgbClr val="0B0B0B"/>
                          </a:solidFill>
                          <a:latin typeface="Arial"/>
                        </a:defRPr>
                      </a:p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2,063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2,066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2,112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2,162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2,214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2,270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D&amp;A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1,653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1,647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1,684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1,765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1,809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Taxes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Change in NWC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1,245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1,273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1,303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1,335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508760"/>
          <a:ext cx="350215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950976"/>
                <a:gridCol w="950976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Valuation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Perpetuity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Exit multiple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g / exit multiple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10.6x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PV of FCF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PV of terminal value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21,107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17,105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Enterprise value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26,485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22,483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(–) Net debt &amp; minority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-5,720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-5,720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Value per share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$24.33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$19.64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TV % of EV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Implied exit multiple from perpetuity method: 13.1x  |  Implied perpetuity growth from exit method: 1.48%</a:t>
            </a:r>
          </a:p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Mid-year convention; terminal value discounted from the end of the final projection year.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DCF 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Value per share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Arial"/>
              </a:rPr>
              <a:t>WACC vs terminal growth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920240"/>
          <a:ext cx="5394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41248"/>
                <a:gridCol w="841248"/>
                <a:gridCol w="841248"/>
                <a:gridCol w="841248"/>
                <a:gridCol w="84124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WACC \ g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$25.41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$28.68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$32.86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$38.39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$46.04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$24.86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$28.07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$32.18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$37.60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$19.71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$21.80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$24.33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$27.48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$31.51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$17.57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$19.28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$21.32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$23.81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$26.90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$15.75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$17.18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$18.85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$23.30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Arial"/>
              </a:rPr>
              <a:t>WACC vs exit multiple (EV / EBITDA)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1920240"/>
          <a:ext cx="5394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41248"/>
                <a:gridCol w="841248"/>
                <a:gridCol w="841248"/>
                <a:gridCol w="841248"/>
                <a:gridCol w="84124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WACC \ exit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8.6x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11.6x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12.6x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$16.75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$18.73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$24.66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$16.28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$18.22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$24.01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$15.83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$17.72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$19.60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$21.49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0B0B0B"/>
                          </a:solidFill>
                          <a:latin typeface="Arial"/>
                        </a:rPr>
                        <a:t>$23.38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$15.39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$17.23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$19.07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$14.95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$16.75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$18.56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$20.36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Arial"/>
                        </a:rPr>
                        <a:t>$22.16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Current share price: $20.00. Highlighted row = base-case WACC.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LBO analysis: financial sponsor ability to pay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Max price at 20% IRR and 5.0x leverage: $13.13 per share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6949435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24127"/>
                <a:gridCol w="1024127"/>
                <a:gridCol w="1024127"/>
                <a:gridCol w="1024127"/>
                <a:gridCol w="1024127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$mm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FY2026E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FY2027E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FY2028E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FY2029E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FY2030E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2,066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2,112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2,162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2,270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Interest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Taxes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Levered FCF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Debt repayment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Debt (end)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9,882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9,283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8,618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7,879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7,060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Cash (end)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3.6x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3.1x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150876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2545"/>
                </a:solidFill>
                <a:latin typeface="Arial"/>
              </a:rPr>
              <a:t>Max price per share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874519"/>
          <a:ext cx="395935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90702"/>
                <a:gridCol w="590702"/>
                <a:gridCol w="590702"/>
                <a:gridCol w="590702"/>
                <a:gridCol w="59070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IRR \ leverage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4.0x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5.0x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5.5x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6.0x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$10.36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$11.02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$11.68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$12.34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$13.00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$11.16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$11.76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$12.36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$12.96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$13.56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20.0%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$12.06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$12.60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$13.13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$13.67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B0B0B"/>
                          </a:solidFill>
                          <a:latin typeface="Arial"/>
                        </a:rPr>
                        <a:t>$14.21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$13.08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$13.54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$14.62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$15.00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$15.38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$15.76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5262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Entry EV $16,929mm (8.1x LTM EBITDA), sponsor equity $6,849mm (40% of total funding), MOIC 2.49x over 5 years.</a:t>
            </a:r>
          </a:p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Assumes 8.5% blended cost of debt, 100% cash sweep, 2% fees and exit at 10.6x EBITDA (peer median).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Valuation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Preliminary reference range $17.28 – $22.08 per share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pic>
        <p:nvPicPr>
          <p:cNvPr id="8" name="Picture 7" descr="football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809" y="1463040"/>
            <a:ext cx="806207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Potential strategic acquirers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Screened at $26.00 per share (30% premium)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4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651760"/>
                <a:gridCol w="1188720"/>
                <a:gridCol w="1188720"/>
                <a:gridCol w="1097280"/>
                <a:gridCol w="1234440"/>
                <a:gridCol w="1005840"/>
                <a:gridCol w="914400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Ticker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Mkt cap ($mm)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Deal / mkt cap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PF leverage (all-debt)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Buyer P/E NTM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All-cash feasible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All-stock EPS</a:t>
                      </a:r>
                    </a:p>
                  </a:txBody>
                  <a:tcPr marL="54864" marR="54864" marT="18288" marB="18288" anchor="ctr"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BUY-B.DEMO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Buy-B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176,320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18.0x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BUY-A.DEMO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Buy-A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88,683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1.9x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4.2x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18.8x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Stretch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BUY-D.DEMO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Buy-D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72,901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2.7x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16.7x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Stretch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BUY-C.DEMO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Buy-C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37,265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74.9%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6.3x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19.8x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Stretch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PEER-A.DEMO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Peer-A Corp. (synthetic)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30,922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2.7x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90.3%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6.4x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14.8x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Stretch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Arial"/>
                        </a:rPr>
                        <a:t>Dilutive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2336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Offer P/E NTM at the mid-point premium: 20.6x. An all-stock deal is accretive before synergies when the buyer's P/E is higher.</a:t>
            </a:r>
          </a:p>
          <a:p>
            <a:pPr algn="l"/>
            <a:r>
              <a:rPr sz="1100" b="0">
                <a:solidFill>
                  <a:srgbClr val="52514E"/>
                </a:solidFill>
                <a:latin typeface="Arial"/>
              </a:rPr>
              <a:t>All-cash feasible = pro forma net debt / EBITDA ≤ 4.0x assuming 100% debt funding. Strategic fit and antitrust overlap need qualitative review.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2545"/>
                </a:solidFill>
                <a:latin typeface="Arial"/>
              </a:rPr>
              <a:t>Methodology and key assumptions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280160"/>
            <a:ext cx="11274552" cy="0"/>
          </a:xfrm>
          <a:prstGeom prst="line">
            <a:avLst/>
          </a:prstGeom>
          <a:ln w="19050">
            <a:solidFill>
              <a:srgbClr val="0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400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2514E"/>
                </a:solidFill>
                <a:latin typeface="Arial"/>
              </a:rPr>
              <a:t>Source: SYNTHETIC DEMO DATA. Illustrative analysis for educational purposes.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484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365760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EB6834"/>
                </a:solidFill>
                <a:latin typeface="Arial"/>
              </a:rPr>
              <a:t>SYNTHETIC DEMO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Trading comparables: LTM multiples from Yahoo Finance; multiples above 100x or with negative denominators excluded; 25th–75th percentile applied.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Premiums paid: one-day premium range applied to the current (unaffected) share price; refine with a deal-specific precedent set.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DCF: 5-year driver-based projections, mid-year convention, perpetuity growth 2.5% and exit multiple 10.6x (peer median).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WACC: CAPM with peer-derived relevered beta; cost of debt from interest-coverage synthetic rating.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LBO: max entry price solved by bisection at the target IRR, with exit at 10.6x EBITDA (peer median).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B0B0B"/>
                </a:solidFill>
                <a:latin typeface="Arial"/>
              </a:rPr>
              <a:t>■  Limitations: data vendor figures are not reconciled to filings; no stub-period adjustment; share count excludes dilution from options/RSUs.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Harvest: preliminary valuation materials (Demo Target Co. (synthetic))</dc:title>
  <dc:subject>Sell-side valuation pitchbook</dc:subject>
  <dc:creator>Alessandro Radice</dc:creator>
  <cp:keywords>M&amp;A, valuation, pitchbook, DCF, LBO</cp:keywords>
  <dc:description>Generated by the Sell-Side Valuation &amp; Pitchbook Engine</dc:description>
  <cp:lastModifiedBy>Alessandro Radice</cp:lastModifiedBy>
  <cp:revision>1</cp:revision>
  <cp:category>Pitchbook</cp:category>
</cp:coreProperties>
</file>